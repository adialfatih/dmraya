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83" r:id="rId5"/>
    <p:sldId id="258" r:id="rId6"/>
    <p:sldId id="284" r:id="rId7"/>
    <p:sldId id="262" r:id="rId8"/>
    <p:sldId id="282" r:id="rId9"/>
    <p:sldId id="260" r:id="rId10"/>
    <p:sldId id="265" r:id="rId11"/>
    <p:sldId id="287" r:id="rId12"/>
    <p:sldId id="288" r:id="rId13"/>
    <p:sldId id="289" r:id="rId14"/>
    <p:sldId id="290" r:id="rId15"/>
    <p:sldId id="2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738"/>
    <a:srgbClr val="C808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2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00" y="72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CC3A8-FBA1-4184-9AF2-0057AB16819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C4D39-3475-487A-9DF4-23A7599EA1C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6146" y="2634981"/>
            <a:ext cx="8104742" cy="1740437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dirty="0">
                <a:latin typeface="Century Gothic" panose="020B0502020202020204" pitchFamily="34" charset="0"/>
              </a:rPr>
              <a:t>PRODUK KNOWLEDGE</a:t>
            </a:r>
            <a:br>
              <a:rPr lang="en-US" sz="4400" b="1" dirty="0">
                <a:latin typeface="Century Gothic" panose="020B0502020202020204" pitchFamily="34" charset="0"/>
              </a:rPr>
            </a:br>
            <a:r>
              <a:rPr lang="en-US" sz="4400" b="1" dirty="0">
                <a:latin typeface="Century Gothic" panose="020B0502020202020204" pitchFamily="34" charset="0"/>
              </a:rPr>
              <a:t>PILARBIT 27 / 102 SC</a:t>
            </a:r>
            <a:br>
              <a:rPr lang="en-US" sz="4400" dirty="0">
                <a:latin typeface="Century Gothic" panose="020B0502020202020204" pitchFamily="34" charset="0"/>
              </a:rPr>
            </a:br>
            <a:r>
              <a:rPr lang="en-US" sz="2800" dirty="0">
                <a:latin typeface="Century Gothic" panose="020B0502020202020204" pitchFamily="34" charset="0"/>
              </a:rPr>
              <a:t>INSEKTISIDA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55" y="1623809"/>
            <a:ext cx="1779490" cy="36502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060065" y="2296160"/>
            <a:ext cx="6071870" cy="2265680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3200" b="1" dirty="0">
                <a:latin typeface="Century Gothic" panose="020B0502020202020204" pitchFamily="34" charset="0"/>
              </a:rPr>
              <a:t>PENGENALAN PRODUK</a:t>
            </a:r>
            <a:endParaRPr lang="en-US" sz="3200" b="1" dirty="0">
              <a:latin typeface="Century Gothic" panose="020B0502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3200" b="1" dirty="0">
                <a:latin typeface="Century Gothic" panose="020B0502020202020204" pitchFamily="34" charset="0"/>
              </a:rPr>
              <a:t>MANFAAT PENGGUNAAN</a:t>
            </a:r>
            <a:endParaRPr lang="en-US" sz="3200" b="1" dirty="0">
              <a:latin typeface="Century Gothic" panose="020B0502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3200" b="1" dirty="0">
                <a:latin typeface="Century Gothic" panose="020B0502020202020204" pitchFamily="34" charset="0"/>
              </a:rPr>
              <a:t>DOSIS DAN HAMA SASARAN</a:t>
            </a:r>
            <a:endParaRPr lang="en-US" sz="3200" b="1" dirty="0">
              <a:latin typeface="Century Gothic" panose="020B0502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3200" b="1" dirty="0">
                <a:latin typeface="Century Gothic" panose="020B0502020202020204" pitchFamily="34" charset="0"/>
              </a:rPr>
              <a:t>UJICOBA LAPANGAN</a:t>
            </a:r>
            <a:endParaRPr lang="en-US" sz="3200" b="1" dirty="0">
              <a:latin typeface="Century Gothic" panose="020B0502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32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2840" y="2863668"/>
            <a:ext cx="6686320" cy="12830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APA ITU</a:t>
            </a:r>
            <a:br>
              <a:rPr lang="en-US" b="1" dirty="0">
                <a:latin typeface="Century Gothic" panose="020B0502020202020204" pitchFamily="34" charset="0"/>
              </a:rPr>
            </a:br>
            <a:r>
              <a:rPr lang="en-US" b="1" dirty="0">
                <a:latin typeface="Century Gothic" panose="020B0502020202020204" pitchFamily="34" charset="0"/>
              </a:rPr>
              <a:t>PILARBIT 27 / 102 SC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645" y="2732184"/>
            <a:ext cx="1933234" cy="32383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3046138" y="612075"/>
            <a:ext cx="6099723" cy="803275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Century Gothic" panose="020B0502020202020204" pitchFamily="34" charset="0"/>
              </a:rPr>
              <a:t>PILARBIT 27 / 102 SC</a:t>
            </a:r>
            <a:endParaRPr lang="en-US" sz="4800" b="1" dirty="0">
              <a:latin typeface="Century Gothic" panose="020B0502020202020204" pitchFamily="34" charset="0"/>
            </a:endParaRPr>
          </a:p>
        </p:txBody>
      </p:sp>
      <p:sp>
        <p:nvSpPr>
          <p:cNvPr id="5" name="Text Placeholder 4"/>
          <p:cNvSpPr txBox="1"/>
          <p:nvPr/>
        </p:nvSpPr>
        <p:spPr>
          <a:xfrm>
            <a:off x="2738179" y="1648604"/>
            <a:ext cx="8962314" cy="48029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sz="1400" b="1" dirty="0">
                <a:latin typeface="Century Gothic" panose="020B0502020202020204" pitchFamily="34" charset="0"/>
              </a:rPr>
              <a:t>PILARBIT 27 / 102 SC </a:t>
            </a:r>
            <a:r>
              <a:rPr lang="en-US" sz="1400" dirty="0" err="1">
                <a:latin typeface="Century Gothic" panose="020B0502020202020204" pitchFamily="34" charset="0"/>
              </a:rPr>
              <a:t>adalah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insektisida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racun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kontak</a:t>
            </a:r>
            <a:r>
              <a:rPr lang="en-US" sz="1400" dirty="0">
                <a:latin typeface="Century Gothic" panose="020B0502020202020204" pitchFamily="34" charset="0"/>
              </a:rPr>
              <a:t> dan </a:t>
            </a:r>
            <a:r>
              <a:rPr lang="en-US" sz="1400" dirty="0" err="1">
                <a:latin typeface="Century Gothic" panose="020B0502020202020204" pitchFamily="34" charset="0"/>
              </a:rPr>
              <a:t>lambung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berbentuk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pekatan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suspensi</a:t>
            </a:r>
            <a:r>
              <a:rPr lang="en-US" sz="1400" dirty="0">
                <a:latin typeface="Century Gothic" panose="020B0502020202020204" pitchFamily="34" charset="0"/>
              </a:rPr>
              <a:t> dan </a:t>
            </a:r>
            <a:r>
              <a:rPr lang="en-US" sz="1400" dirty="0" err="1">
                <a:latin typeface="Century Gothic" panose="020B0502020202020204" pitchFamily="34" charset="0"/>
              </a:rPr>
              <a:t>digunakan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untuk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mengendalikan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hama</a:t>
            </a:r>
            <a:r>
              <a:rPr lang="en-US" sz="1400" dirty="0">
                <a:latin typeface="Century Gothic" panose="020B0502020202020204" pitchFamily="34" charset="0"/>
              </a:rPr>
              <a:t> kutu </a:t>
            </a:r>
            <a:r>
              <a:rPr lang="en-US" sz="1400" dirty="0" err="1">
                <a:latin typeface="Century Gothic" panose="020B0502020202020204" pitchFamily="34" charset="0"/>
              </a:rPr>
              <a:t>daun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i="1" dirty="0">
                <a:latin typeface="Century Gothic" panose="020B0502020202020204" pitchFamily="34" charset="0"/>
              </a:rPr>
              <a:t>(</a:t>
            </a:r>
            <a:r>
              <a:rPr lang="en-US" sz="1400" i="1" dirty="0" err="1">
                <a:latin typeface="Century Gothic" panose="020B0502020202020204" pitchFamily="34" charset="0"/>
              </a:rPr>
              <a:t>Myzus</a:t>
            </a:r>
            <a:r>
              <a:rPr lang="en-US" sz="1400" i="1" dirty="0">
                <a:latin typeface="Century Gothic" panose="020B0502020202020204" pitchFamily="34" charset="0"/>
              </a:rPr>
              <a:t> </a:t>
            </a:r>
            <a:r>
              <a:rPr lang="en-US" sz="1400" i="1" dirty="0" err="1">
                <a:latin typeface="Century Gothic" panose="020B0502020202020204" pitchFamily="34" charset="0"/>
              </a:rPr>
              <a:t>persicae</a:t>
            </a:r>
            <a:r>
              <a:rPr lang="en-US" sz="1400" i="1" dirty="0">
                <a:latin typeface="Century Gothic" panose="020B0502020202020204" pitchFamily="34" charset="0"/>
              </a:rPr>
              <a:t>) </a:t>
            </a:r>
            <a:r>
              <a:rPr lang="en-US" sz="1400" dirty="0" err="1">
                <a:latin typeface="Century Gothic" panose="020B0502020202020204" pitchFamily="34" charset="0"/>
              </a:rPr>
              <a:t>untuk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tanaman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cabai</a:t>
            </a:r>
            <a:r>
              <a:rPr lang="en-US" sz="1400" dirty="0">
                <a:latin typeface="Century Gothic" panose="020B0502020202020204" pitchFamily="34" charset="0"/>
              </a:rPr>
              <a:t>, </a:t>
            </a:r>
            <a:r>
              <a:rPr lang="en-US" sz="1400" dirty="0" err="1">
                <a:latin typeface="Century Gothic" panose="020B0502020202020204" pitchFamily="34" charset="0"/>
              </a:rPr>
              <a:t>serta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untuk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mengendalikan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hama</a:t>
            </a:r>
            <a:r>
              <a:rPr lang="en-US" sz="1400" dirty="0">
                <a:latin typeface="Century Gothic" panose="020B0502020202020204" pitchFamily="34" charset="0"/>
              </a:rPr>
              <a:t> thrips </a:t>
            </a:r>
            <a:r>
              <a:rPr lang="en-US" sz="1400" dirty="0" err="1">
                <a:latin typeface="Century Gothic" panose="020B0502020202020204" pitchFamily="34" charset="0"/>
              </a:rPr>
              <a:t>serta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untuk</a:t>
            </a:r>
            <a:r>
              <a:rPr lang="en-US" sz="1400" dirty="0">
                <a:latin typeface="Century Gothic" panose="020B0502020202020204" pitchFamily="34" charset="0"/>
              </a:rPr>
              <a:t> kutu-</a:t>
            </a:r>
            <a:r>
              <a:rPr lang="en-US" sz="1400" dirty="0" err="1">
                <a:latin typeface="Century Gothic" panose="020B0502020202020204" pitchFamily="34" charset="0"/>
              </a:rPr>
              <a:t>kutuan</a:t>
            </a:r>
            <a:r>
              <a:rPr lang="en-US" sz="1400" dirty="0">
                <a:latin typeface="Century Gothic" panose="020B0502020202020204" pitchFamily="34" charset="0"/>
              </a:rPr>
              <a:t> pada </a:t>
            </a:r>
            <a:r>
              <a:rPr lang="en-US" sz="1400" dirty="0" err="1">
                <a:latin typeface="Century Gothic" panose="020B0502020202020204" pitchFamily="34" charset="0"/>
              </a:rPr>
              <a:t>tanaman</a:t>
            </a:r>
            <a:r>
              <a:rPr lang="en-US" sz="1400" dirty="0">
                <a:latin typeface="Century Gothic" panose="020B0502020202020204" pitchFamily="34" charset="0"/>
              </a:rPr>
              <a:t>.</a:t>
            </a:r>
            <a:endParaRPr lang="en-US" sz="1400" dirty="0">
              <a:latin typeface="Century Gothic" panose="020B0502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1400" b="1" dirty="0">
                <a:latin typeface="Century Gothic" panose="020B0502020202020204" pitchFamily="34" charset="0"/>
              </a:rPr>
              <a:t>PILARBIT 27 / 102 SC </a:t>
            </a:r>
            <a:r>
              <a:rPr lang="en-US" sz="1400" dirty="0" err="1">
                <a:latin typeface="Century Gothic" panose="020B0502020202020204" pitchFamily="34" charset="0"/>
              </a:rPr>
              <a:t>dengan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perpaduan</a:t>
            </a:r>
            <a:r>
              <a:rPr lang="en-US" sz="1400" dirty="0">
                <a:latin typeface="Century Gothic" panose="020B0502020202020204" pitchFamily="34" charset="0"/>
              </a:rPr>
              <a:t> dua </a:t>
            </a:r>
            <a:r>
              <a:rPr lang="en-US" sz="1400" dirty="0" err="1">
                <a:latin typeface="Century Gothic" panose="020B0502020202020204" pitchFamily="34" charset="0"/>
              </a:rPr>
              <a:t>bahan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aktif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deltametrin</a:t>
            </a:r>
            <a:r>
              <a:rPr lang="en-US" sz="1400" dirty="0">
                <a:latin typeface="Century Gothic" panose="020B0502020202020204" pitchFamily="34" charset="0"/>
              </a:rPr>
              <a:t> dan </a:t>
            </a:r>
            <a:r>
              <a:rPr lang="en-US" sz="1400" dirty="0" err="1">
                <a:latin typeface="Century Gothic" panose="020B0502020202020204" pitchFamily="34" charset="0"/>
              </a:rPr>
              <a:t>tiametoksam</a:t>
            </a:r>
            <a:r>
              <a:rPr lang="en-US" sz="1400" dirty="0">
                <a:latin typeface="Century Gothic" panose="020B0502020202020204" pitchFamily="34" charset="0"/>
              </a:rPr>
              <a:t> yang </a:t>
            </a:r>
            <a:r>
              <a:rPr lang="en-US" sz="1400" dirty="0" err="1">
                <a:latin typeface="Century Gothic" panose="020B0502020202020204" pitchFamily="34" charset="0"/>
              </a:rPr>
              <a:t>keduanya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memiliki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spektrum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insektisida</a:t>
            </a:r>
            <a:r>
              <a:rPr lang="en-US" sz="1400" dirty="0">
                <a:latin typeface="Century Gothic" panose="020B0502020202020204" pitchFamily="34" charset="0"/>
              </a:rPr>
              <a:t> yang sangat </a:t>
            </a:r>
            <a:r>
              <a:rPr lang="en-US" sz="1400" dirty="0" err="1">
                <a:latin typeface="Century Gothic" panose="020B0502020202020204" pitchFamily="34" charset="0"/>
              </a:rPr>
              <a:t>luas</a:t>
            </a:r>
            <a:r>
              <a:rPr lang="en-US" sz="1400" dirty="0">
                <a:latin typeface="Century Gothic" panose="020B0502020202020204" pitchFamily="34" charset="0"/>
              </a:rPr>
              <a:t>.</a:t>
            </a:r>
            <a:endParaRPr lang="en-US" sz="1400" dirty="0">
              <a:latin typeface="Century Gothic" panose="020B0502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1400" dirty="0">
                <a:latin typeface="Century Gothic" panose="020B0502020202020204" pitchFamily="34" charset="0"/>
              </a:rPr>
              <a:t>Deltamethrin </a:t>
            </a:r>
            <a:r>
              <a:rPr lang="en-US" sz="1400" dirty="0" err="1">
                <a:latin typeface="Century Gothic" panose="020B0502020202020204" pitchFamily="34" charset="0"/>
              </a:rPr>
              <a:t>memiliki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efek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tertinggi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toksisitas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kontak</a:t>
            </a:r>
            <a:r>
              <a:rPr lang="en-US" sz="1400" dirty="0">
                <a:latin typeface="Century Gothic" panose="020B0502020202020204" pitchFamily="34" charset="0"/>
              </a:rPr>
              <a:t> pada </a:t>
            </a:r>
            <a:r>
              <a:rPr lang="en-US" sz="1400" dirty="0" err="1">
                <a:latin typeface="Century Gothic" panose="020B0502020202020204" pitchFamily="34" charset="0"/>
              </a:rPr>
              <a:t>piretoid</a:t>
            </a:r>
            <a:r>
              <a:rPr lang="en-US" sz="1400" dirty="0">
                <a:latin typeface="Century Gothic" panose="020B0502020202020204" pitchFamily="34" charset="0"/>
              </a:rPr>
              <a:t> dan </a:t>
            </a:r>
            <a:r>
              <a:rPr lang="en-US" sz="1400" dirty="0" err="1">
                <a:latin typeface="Century Gothic" panose="020B0502020202020204" pitchFamily="34" charset="0"/>
              </a:rPr>
              <a:t>memiliki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efek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spektrum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insektisida</a:t>
            </a:r>
            <a:r>
              <a:rPr lang="en-US" sz="1400" dirty="0">
                <a:latin typeface="Century Gothic" panose="020B0502020202020204" pitchFamily="34" charset="0"/>
              </a:rPr>
              <a:t> yang </a:t>
            </a:r>
            <a:r>
              <a:rPr lang="en-US" sz="1400" dirty="0" err="1">
                <a:latin typeface="Century Gothic" panose="020B0502020202020204" pitchFamily="34" charset="0"/>
              </a:rPr>
              <a:t>luas</a:t>
            </a:r>
            <a:r>
              <a:rPr lang="en-US" sz="1400" dirty="0">
                <a:latin typeface="Century Gothic" panose="020B0502020202020204" pitchFamily="34" charset="0"/>
              </a:rPr>
              <a:t> yang </a:t>
            </a:r>
            <a:r>
              <a:rPr lang="en-US" sz="1400" dirty="0" err="1">
                <a:latin typeface="Century Gothic" panose="020B0502020202020204" pitchFamily="34" charset="0"/>
              </a:rPr>
              <a:t>secara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efektif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dapat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mengendalikan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lebih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dari</a:t>
            </a:r>
            <a:r>
              <a:rPr lang="en-US" sz="1400" dirty="0">
                <a:latin typeface="Century Gothic" panose="020B0502020202020204" pitchFamily="34" charset="0"/>
              </a:rPr>
              <a:t> 140 </a:t>
            </a:r>
            <a:r>
              <a:rPr lang="en-US" sz="1400" dirty="0" err="1">
                <a:latin typeface="Century Gothic" panose="020B0502020202020204" pitchFamily="34" charset="0"/>
              </a:rPr>
              <a:t>jenis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hama</a:t>
            </a:r>
            <a:r>
              <a:rPr lang="en-US" sz="1400" dirty="0">
                <a:latin typeface="Century Gothic" panose="020B0502020202020204" pitchFamily="34" charset="0"/>
              </a:rPr>
              <a:t>. Waktu </a:t>
            </a:r>
            <a:r>
              <a:rPr lang="en-US" sz="1400" dirty="0" err="1">
                <a:latin typeface="Century Gothic" panose="020B0502020202020204" pitchFamily="34" charset="0"/>
              </a:rPr>
              <a:t>paruh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deltametrin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adalah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relatif</a:t>
            </a:r>
            <a:r>
              <a:rPr lang="en-US" sz="1400" dirty="0">
                <a:latin typeface="Century Gothic" panose="020B0502020202020204" pitchFamily="34" charset="0"/>
              </a:rPr>
              <a:t> lama </a:t>
            </a:r>
            <a:r>
              <a:rPr lang="en-US" sz="1400" dirty="0" err="1">
                <a:latin typeface="Century Gothic" panose="020B0502020202020204" pitchFamily="34" charset="0"/>
              </a:rPr>
              <a:t>sehingga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mempunyai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sisa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pengendalian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latin typeface="Century Gothic" panose="020B0502020202020204" pitchFamily="34" charset="0"/>
              </a:rPr>
              <a:t>hama</a:t>
            </a:r>
            <a:r>
              <a:rPr lang="en-US" sz="1400" dirty="0">
                <a:latin typeface="Century Gothic" panose="020B0502020202020204" pitchFamily="34" charset="0"/>
              </a:rPr>
              <a:t> yang lama</a:t>
            </a:r>
            <a:endParaRPr lang="en-US" sz="1400" dirty="0">
              <a:latin typeface="Century Gothic" panose="020B0502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>
                <a:latin typeface="Century Gothic" panose="020B0502020202020204" pitchFamily="34" charset="0"/>
              </a:rPr>
              <a:t>Tiametoksam</a:t>
            </a:r>
            <a:r>
              <a:rPr lang="en-US" sz="1400" dirty="0"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dapat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bergerak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cepat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melalui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daun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untuk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membentuk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cadangan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perlindungan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jangka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Panjang,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Tiametoksam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mempunyai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aktivitas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sistemik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lokal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yang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dapat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menjalar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dari</a:t>
            </a:r>
            <a:r>
              <a:rPr lang="en-ID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bawah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ke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atas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dalam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4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xilem</a:t>
            </a:r>
            <a:r>
              <a:rPr lang="en-ID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en-US" sz="1400" dirty="0">
              <a:latin typeface="Century Gothic" panose="020B0502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1400" dirty="0">
                <a:latin typeface="Century Gothic" panose="020B0502020202020204" pitchFamily="34" charset="0"/>
              </a:rPr>
              <a:t>Bahan </a:t>
            </a:r>
            <a:r>
              <a:rPr lang="en-US" sz="1400" dirty="0" err="1">
                <a:latin typeface="Century Gothic" panose="020B0502020202020204" pitchFamily="34" charset="0"/>
              </a:rPr>
              <a:t>Aktif</a:t>
            </a:r>
            <a:r>
              <a:rPr lang="en-US" sz="1400" dirty="0">
                <a:latin typeface="Century Gothic" panose="020B0502020202020204" pitchFamily="34" charset="0"/>
              </a:rPr>
              <a:t> : </a:t>
            </a:r>
            <a:r>
              <a:rPr lang="en-US" sz="1400" dirty="0" err="1">
                <a:latin typeface="Century Gothic" panose="020B0502020202020204" pitchFamily="34" charset="0"/>
              </a:rPr>
              <a:t>Deltametrin</a:t>
            </a:r>
            <a:r>
              <a:rPr lang="en-US" sz="1400" dirty="0">
                <a:latin typeface="Century Gothic" panose="020B0502020202020204" pitchFamily="34" charset="0"/>
              </a:rPr>
              <a:t> 27 g/l + </a:t>
            </a:r>
            <a:r>
              <a:rPr lang="en-US" sz="1400" dirty="0" err="1">
                <a:latin typeface="Century Gothic" panose="020B0502020202020204" pitchFamily="34" charset="0"/>
              </a:rPr>
              <a:t>Tiametoksam</a:t>
            </a:r>
            <a:r>
              <a:rPr lang="en-US" sz="1400" dirty="0">
                <a:latin typeface="Century Gothic" panose="020B0502020202020204" pitchFamily="34" charset="0"/>
              </a:rPr>
              <a:t> 102 g/l</a:t>
            </a:r>
            <a:endParaRPr lang="en-US" sz="1400" dirty="0">
              <a:latin typeface="Century Gothic" panose="020B0502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1400" dirty="0">
                <a:latin typeface="Century Gothic" panose="020B0502020202020204" pitchFamily="34" charset="0"/>
              </a:rPr>
              <a:t>Group : </a:t>
            </a:r>
            <a:r>
              <a:rPr lang="en-US" sz="1400" b="1" dirty="0">
                <a:latin typeface="Century Gothic" panose="020B0502020202020204" pitchFamily="34" charset="0"/>
              </a:rPr>
              <a:t>3A / 4A</a:t>
            </a:r>
            <a:r>
              <a:rPr lang="en-US" sz="1400" dirty="0">
                <a:latin typeface="Century Gothic" panose="020B0502020202020204" pitchFamily="34" charset="0"/>
              </a:rPr>
              <a:t> INSEKTISIDA</a:t>
            </a:r>
            <a:endParaRPr lang="en-US" sz="1400" dirty="0">
              <a:latin typeface="Century Gothic" panose="020B0502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1400" dirty="0" err="1">
                <a:latin typeface="Century Gothic" panose="020B0502020202020204" pitchFamily="34" charset="0"/>
              </a:rPr>
              <a:t>Formulasi</a:t>
            </a:r>
            <a:r>
              <a:rPr lang="en-US" sz="1400" dirty="0">
                <a:latin typeface="Century Gothic" panose="020B0502020202020204" pitchFamily="34" charset="0"/>
              </a:rPr>
              <a:t> : SC ( Suspension Concentrate )</a:t>
            </a:r>
            <a:endParaRPr lang="en-US" sz="1400" dirty="0">
              <a:latin typeface="Century Gothic" panose="020B0502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55" y="1623809"/>
            <a:ext cx="1779490" cy="36502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08" y="2863668"/>
            <a:ext cx="7713184" cy="12830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APA MANFAAT PENGGUNAAN</a:t>
            </a:r>
            <a:br>
              <a:rPr lang="en-US" b="1" dirty="0">
                <a:latin typeface="Century Gothic" panose="020B0502020202020204" pitchFamily="34" charset="0"/>
              </a:rPr>
            </a:br>
            <a:r>
              <a:rPr lang="en-US" b="1" dirty="0">
                <a:latin typeface="Century Gothic" panose="020B0502020202020204" pitchFamily="34" charset="0"/>
              </a:rPr>
              <a:t>PILARBIT 27 / 102 SC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645" y="2732184"/>
            <a:ext cx="1933234" cy="3238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2020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Century Gothic" panose="020B0502020202020204" pitchFamily="34" charset="0"/>
              </a:rPr>
              <a:t>MANFAAT PENGGUNAAN</a:t>
            </a:r>
            <a:br>
              <a:rPr lang="en-US" sz="3600" b="1" dirty="0">
                <a:latin typeface="Century Gothic" panose="020B0502020202020204" pitchFamily="34" charset="0"/>
              </a:rPr>
            </a:br>
            <a:r>
              <a:rPr lang="en-US" sz="3600" b="1" dirty="0">
                <a:latin typeface="Century Gothic" panose="020B0502020202020204" pitchFamily="34" charset="0"/>
              </a:rPr>
              <a:t>PILARBIT 27 / 102 SC</a:t>
            </a:r>
            <a:br>
              <a:rPr lang="en-US" sz="3600" b="1" dirty="0">
                <a:latin typeface="Century Gothic" panose="020B0502020202020204" pitchFamily="34" charset="0"/>
              </a:rPr>
            </a:br>
            <a:r>
              <a:rPr lang="en-US" sz="3600" b="1" dirty="0">
                <a:latin typeface="Century Gothic" panose="020B0502020202020204" pitchFamily="34" charset="0"/>
              </a:rPr>
              <a:t>PADA TANAMAN</a:t>
            </a:r>
            <a:endParaRPr 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5689" y="1874376"/>
            <a:ext cx="9670366" cy="240296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 err="1">
                <a:latin typeface="Century Gothic" panose="020B0502020202020204" pitchFamily="34" charset="0"/>
              </a:rPr>
              <a:t>Manfaat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Penggunaan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b="1" dirty="0">
                <a:latin typeface="Century Gothic" panose="020B0502020202020204" pitchFamily="34" charset="0"/>
              </a:rPr>
              <a:t>PILARBIT 27 / 102 SC</a:t>
            </a:r>
            <a:endParaRPr lang="en-US" sz="1800" dirty="0"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err="1">
                <a:latin typeface="Century Gothic" panose="020B0502020202020204" pitchFamily="34" charset="0"/>
              </a:rPr>
              <a:t>Untuk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mengendalikan</a:t>
            </a:r>
            <a:r>
              <a:rPr lang="en-US" sz="1800" dirty="0">
                <a:latin typeface="Century Gothic" panose="020B0502020202020204" pitchFamily="34" charset="0"/>
              </a:rPr>
              <a:t> kutu </a:t>
            </a:r>
            <a:r>
              <a:rPr lang="en-US" sz="1800" dirty="0" err="1">
                <a:latin typeface="Century Gothic" panose="020B0502020202020204" pitchFamily="34" charset="0"/>
              </a:rPr>
              <a:t>daun</a:t>
            </a:r>
            <a:r>
              <a:rPr lang="en-US" sz="1800" dirty="0">
                <a:latin typeface="Century Gothic" panose="020B0502020202020204" pitchFamily="34" charset="0"/>
              </a:rPr>
              <a:t> dan </a:t>
            </a:r>
            <a:r>
              <a:rPr lang="en-US" sz="1800" dirty="0" err="1">
                <a:latin typeface="Century Gothic" panose="020B0502020202020204" pitchFamily="34" charset="0"/>
              </a:rPr>
              <a:t>ulat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kubis</a:t>
            </a:r>
            <a:r>
              <a:rPr lang="en-US" sz="1800" dirty="0">
                <a:latin typeface="Century Gothic" panose="020B0502020202020204" pitchFamily="34" charset="0"/>
              </a:rPr>
              <a:t> pada </a:t>
            </a:r>
            <a:r>
              <a:rPr lang="en-US" sz="1800" dirty="0" err="1">
                <a:latin typeface="Century Gothic" panose="020B0502020202020204" pitchFamily="34" charset="0"/>
              </a:rPr>
              <a:t>sayuran</a:t>
            </a:r>
            <a:endParaRPr lang="en-US" sz="1800" dirty="0"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err="1">
                <a:latin typeface="Century Gothic" panose="020B0502020202020204" pitchFamily="34" charset="0"/>
              </a:rPr>
              <a:t>Untuk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mengendalikan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penggerek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daun</a:t>
            </a:r>
            <a:r>
              <a:rPr lang="en-US" sz="1800" dirty="0">
                <a:latin typeface="Century Gothic" panose="020B0502020202020204" pitchFamily="34" charset="0"/>
              </a:rPr>
              <a:t> dan </a:t>
            </a:r>
            <a:r>
              <a:rPr lang="en-US" sz="1800" dirty="0" err="1">
                <a:latin typeface="Century Gothic" panose="020B0502020202020204" pitchFamily="34" charset="0"/>
              </a:rPr>
              <a:t>kumbang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penggerek</a:t>
            </a:r>
            <a:r>
              <a:rPr lang="en-US" sz="1800" dirty="0">
                <a:latin typeface="Century Gothic" panose="020B0502020202020204" pitchFamily="34" charset="0"/>
              </a:rPr>
              <a:t> pada </a:t>
            </a:r>
            <a:r>
              <a:rPr lang="en-US" sz="1800" dirty="0" err="1">
                <a:latin typeface="Century Gothic" panose="020B0502020202020204" pitchFamily="34" charset="0"/>
              </a:rPr>
              <a:t>tanaman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kentang</a:t>
            </a:r>
            <a:endParaRPr lang="en-US" sz="1800" dirty="0"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err="1">
                <a:latin typeface="Century Gothic" panose="020B0502020202020204" pitchFamily="34" charset="0"/>
              </a:rPr>
              <a:t>Untuk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mengendalikan</a:t>
            </a:r>
            <a:r>
              <a:rPr lang="en-US" sz="1800" dirty="0">
                <a:latin typeface="Century Gothic" panose="020B0502020202020204" pitchFamily="34" charset="0"/>
              </a:rPr>
              <a:t> thrips, </a:t>
            </a:r>
            <a:r>
              <a:rPr lang="en-US" sz="1800" dirty="0" err="1">
                <a:latin typeface="Century Gothic" panose="020B0502020202020204" pitchFamily="34" charset="0"/>
              </a:rPr>
              <a:t>ulat</a:t>
            </a:r>
            <a:r>
              <a:rPr lang="en-US" sz="1800" dirty="0">
                <a:latin typeface="Century Gothic" panose="020B0502020202020204" pitchFamily="34" charset="0"/>
              </a:rPr>
              <a:t> tantara dan </a:t>
            </a:r>
            <a:r>
              <a:rPr lang="en-US" sz="1800" dirty="0" err="1">
                <a:latin typeface="Century Gothic" panose="020B0502020202020204" pitchFamily="34" charset="0"/>
              </a:rPr>
              <a:t>segala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jenis</a:t>
            </a:r>
            <a:r>
              <a:rPr lang="en-US" sz="1800" dirty="0">
                <a:latin typeface="Century Gothic" panose="020B0502020202020204" pitchFamily="34" charset="0"/>
              </a:rPr>
              <a:t> kutu-</a:t>
            </a:r>
            <a:r>
              <a:rPr lang="en-US" sz="1800" dirty="0" err="1">
                <a:latin typeface="Century Gothic" panose="020B0502020202020204" pitchFamily="34" charset="0"/>
              </a:rPr>
              <a:t>kutuan</a:t>
            </a:r>
            <a:r>
              <a:rPr lang="en-US" sz="1800" dirty="0">
                <a:latin typeface="Century Gothic" panose="020B0502020202020204" pitchFamily="34" charset="0"/>
              </a:rPr>
              <a:t> pada </a:t>
            </a:r>
            <a:r>
              <a:rPr lang="en-US" sz="1800" dirty="0" err="1">
                <a:latin typeface="Century Gothic" panose="020B0502020202020204" pitchFamily="34" charset="0"/>
              </a:rPr>
              <a:t>tanaman</a:t>
            </a:r>
            <a:r>
              <a:rPr lang="en-US" sz="1800" dirty="0">
                <a:latin typeface="Century Gothic" panose="020B0502020202020204" pitchFamily="34" charset="0"/>
              </a:rPr>
              <a:t> (</a:t>
            </a:r>
            <a:r>
              <a:rPr lang="en-US" sz="1800" dirty="0" err="1">
                <a:latin typeface="Century Gothic" panose="020B0502020202020204" pitchFamily="34" charset="0"/>
              </a:rPr>
              <a:t>spektrum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insektisida</a:t>
            </a:r>
            <a:r>
              <a:rPr lang="en-US" sz="1800" dirty="0">
                <a:latin typeface="Century Gothic" panose="020B0502020202020204" pitchFamily="34" charset="0"/>
              </a:rPr>
              <a:t> yang </a:t>
            </a:r>
            <a:r>
              <a:rPr lang="en-US" sz="1800" dirty="0" err="1">
                <a:latin typeface="Century Gothic" panose="020B0502020202020204" pitchFamily="34" charset="0"/>
              </a:rPr>
              <a:t>luas</a:t>
            </a:r>
            <a:r>
              <a:rPr lang="en-US" sz="1800" dirty="0">
                <a:latin typeface="Century Gothic" panose="020B0502020202020204" pitchFamily="34" charset="0"/>
              </a:rPr>
              <a:t>) </a:t>
            </a:r>
            <a:r>
              <a:rPr lang="en-US" sz="1800" dirty="0" err="1">
                <a:latin typeface="Century Gothic" panose="020B0502020202020204" pitchFamily="34" charset="0"/>
              </a:rPr>
              <a:t>dengan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efikasi</a:t>
            </a:r>
            <a:r>
              <a:rPr lang="en-US" sz="1800" dirty="0">
                <a:latin typeface="Century Gothic" panose="020B0502020202020204" pitchFamily="34" charset="0"/>
              </a:rPr>
              <a:t> knock-down.</a:t>
            </a:r>
            <a:endParaRPr lang="en-US" sz="1800" dirty="0"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 err="1">
                <a:latin typeface="Century Gothic" panose="020B0502020202020204" pitchFamily="34" charset="0"/>
              </a:rPr>
              <a:t>Dapat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melindungi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tanaman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dari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hama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untuk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jangka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waktu</a:t>
            </a:r>
            <a:r>
              <a:rPr lang="en-US" sz="1800" dirty="0">
                <a:latin typeface="Century Gothic" panose="020B0502020202020204" pitchFamily="34" charset="0"/>
              </a:rPr>
              <a:t> yang lama</a:t>
            </a:r>
            <a:endParaRPr lang="en-US" sz="1800" dirty="0"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latin typeface="Century Gothic" panose="020B0502020202020204" pitchFamily="34" charset="0"/>
              </a:rPr>
              <a:t>Aman </a:t>
            </a:r>
            <a:r>
              <a:rPr lang="en-US" sz="1800" dirty="0" err="1">
                <a:latin typeface="Century Gothic" panose="020B0502020202020204" pitchFamily="34" charset="0"/>
              </a:rPr>
              <a:t>bagi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  <a:r>
              <a:rPr lang="en-US" sz="1800" dirty="0" err="1">
                <a:latin typeface="Century Gothic" panose="020B0502020202020204" pitchFamily="34" charset="0"/>
              </a:rPr>
              <a:t>tanaman</a:t>
            </a:r>
            <a:r>
              <a:rPr lang="en-US" sz="1800" dirty="0">
                <a:latin typeface="Century Gothic" panose="020B0502020202020204" pitchFamily="34" charset="0"/>
              </a:rPr>
              <a:t>.</a:t>
            </a: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60272" y="5718353"/>
            <a:ext cx="1517651" cy="28524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62489" y="5717895"/>
            <a:ext cx="110911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entury Gothic" panose="020B0502020202020204" pitchFamily="34" charset="0"/>
              </a:rPr>
              <a:t>KUTU DAUN 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909" y="4609236"/>
            <a:ext cx="1589169" cy="11007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461" y="4610211"/>
            <a:ext cx="1589169" cy="11081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84297" y="5713772"/>
            <a:ext cx="1517651" cy="28524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99400" y="5723640"/>
            <a:ext cx="10741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entury Gothic" panose="020B0502020202020204" pitchFamily="34" charset="0"/>
              </a:rPr>
              <a:t>KUTU KEBUL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64679" y="5717895"/>
            <a:ext cx="1826419" cy="2857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055156" y="5740978"/>
            <a:ext cx="18359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Century Gothic" panose="020B0502020202020204" pitchFamily="34" charset="0"/>
              </a:rPr>
              <a:t>ULAT TENTARA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pic>
        <p:nvPicPr>
          <p:cNvPr id="1026" name="Picture 2" descr="Ulat Tentara Serang Jagung di Indonesia, Ini Tips dari Paka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397" y="4679155"/>
            <a:ext cx="1747840" cy="9370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003" y="4675422"/>
            <a:ext cx="1444734" cy="947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Rectangle 20"/>
          <p:cNvSpPr/>
          <p:nvPr/>
        </p:nvSpPr>
        <p:spPr>
          <a:xfrm>
            <a:off x="8085570" y="5717895"/>
            <a:ext cx="1517652" cy="2857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905629" y="5740978"/>
            <a:ext cx="18359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Century Gothic" panose="020B0502020202020204" pitchFamily="34" charset="0"/>
              </a:rPr>
              <a:t>THRIPS</a:t>
            </a:r>
            <a:endParaRPr lang="en-US" sz="9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8531" y="2807340"/>
            <a:ext cx="8674937" cy="1283064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Century Gothic" panose="020B0502020202020204" pitchFamily="34" charset="0"/>
              </a:rPr>
              <a:t>APA SAJA HAMA SASARANNYA</a:t>
            </a:r>
            <a:br>
              <a:rPr lang="en-US" sz="3600" b="1" dirty="0">
                <a:latin typeface="Century Gothic" panose="020B0502020202020204" pitchFamily="34" charset="0"/>
              </a:rPr>
            </a:br>
            <a:r>
              <a:rPr lang="en-US" sz="3600" b="1" dirty="0">
                <a:latin typeface="Century Gothic" panose="020B0502020202020204" pitchFamily="34" charset="0"/>
              </a:rPr>
              <a:t>&amp;</a:t>
            </a:r>
            <a:br>
              <a:rPr lang="en-US" sz="3600" b="1" dirty="0">
                <a:latin typeface="Century Gothic" panose="020B0502020202020204" pitchFamily="34" charset="0"/>
              </a:rPr>
            </a:br>
            <a:r>
              <a:rPr lang="en-US" sz="3600" b="1" dirty="0">
                <a:latin typeface="Century Gothic" panose="020B0502020202020204" pitchFamily="34" charset="0"/>
              </a:rPr>
              <a:t>BERAPA DOSIS PENGGUNAANYA</a:t>
            </a:r>
            <a:endParaRPr lang="en-US" sz="3600" b="1" dirty="0">
              <a:latin typeface="Century Gothic" panose="020B0502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645" y="2732184"/>
            <a:ext cx="1933234" cy="3238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80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err="1">
                <a:latin typeface="Century Gothic" panose="020B0502020202020204" pitchFamily="34" charset="0"/>
              </a:rPr>
              <a:t>Dosis</a:t>
            </a:r>
            <a:r>
              <a:rPr lang="en-US" sz="4000" b="1" dirty="0">
                <a:latin typeface="Century Gothic" panose="020B0502020202020204" pitchFamily="34" charset="0"/>
              </a:rPr>
              <a:t> &amp; Hama </a:t>
            </a:r>
            <a:r>
              <a:rPr lang="en-US" sz="4000" b="1" dirty="0" err="1">
                <a:latin typeface="Century Gothic" panose="020B0502020202020204" pitchFamily="34" charset="0"/>
              </a:rPr>
              <a:t>Sasaran</a:t>
            </a:r>
            <a:endParaRPr lang="en-US" sz="4000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199" y="1825625"/>
          <a:ext cx="10652393" cy="20167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539643"/>
                <a:gridCol w="2704250"/>
                <a:gridCol w="2704250"/>
                <a:gridCol w="27042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Tanaman</a:t>
                      </a:r>
                      <a:endParaRPr lang="en-US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Hama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Sasaran</a:t>
                      </a:r>
                      <a:endParaRPr lang="en-US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Dosis</a:t>
                      </a:r>
                      <a:endParaRPr lang="en-US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Kombinasi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Yang di </a:t>
                      </a:r>
                      <a:r>
                        <a:rPr lang="en-US" baseline="0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Sarankan</a:t>
                      </a:r>
                      <a:endParaRPr lang="en-US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7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231775" indent="0" algn="l"/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Sayuran</a:t>
                      </a: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Kutu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daun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,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ulat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kubis</a:t>
                      </a: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20 ml /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tangki</a:t>
                      </a: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31775" indent="0" algn="l"/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Kentang</a:t>
                      </a: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Penggerek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daun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Kumbang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penggerek</a:t>
                      </a: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20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ml /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tangki</a:t>
                      </a: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231775" indent="0" algn="l"/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Cabai</a:t>
                      </a: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Ulat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Bit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Cabai</a:t>
                      </a: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15 ml /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tangki</a:t>
                      </a: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787317" y="4698052"/>
            <a:ext cx="1832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Century Gothic" panose="020B0502020202020204" pitchFamily="34" charset="0"/>
              </a:rPr>
              <a:t>*</a:t>
            </a:r>
            <a:r>
              <a:rPr lang="en-US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Tangki</a:t>
            </a:r>
            <a:r>
              <a:rPr lang="en-US" dirty="0">
                <a:solidFill>
                  <a:srgbClr val="C00000"/>
                </a:solidFill>
                <a:latin typeface="Century Gothic" panose="020B0502020202020204" pitchFamily="34" charset="0"/>
              </a:rPr>
              <a:t> 16 Liter</a:t>
            </a:r>
            <a:endParaRPr lang="en-US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71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UJICOBA LAPANGAN</a:t>
            </a:r>
            <a:br>
              <a:rPr lang="en-US" sz="2800" b="1" dirty="0">
                <a:latin typeface="Century Gothic" panose="020B0502020202020204" pitchFamily="34" charset="0"/>
              </a:rPr>
            </a:br>
            <a:r>
              <a:rPr lang="en-US" sz="2800" b="1" dirty="0">
                <a:latin typeface="Century Gothic" panose="020B0502020202020204" pitchFamily="34" charset="0"/>
              </a:rPr>
              <a:t>PILARBIT 27 / 102 SC – KUTU DAUN</a:t>
            </a:r>
            <a:br>
              <a:rPr lang="en-US" sz="2800" b="1" dirty="0">
                <a:latin typeface="Century Gothic" panose="020B0502020202020204" pitchFamily="34" charset="0"/>
              </a:rPr>
            </a:br>
            <a:r>
              <a:rPr lang="en-US" sz="2800" b="1" dirty="0">
                <a:latin typeface="Century Gothic" panose="020B0502020202020204" pitchFamily="34" charset="0"/>
              </a:rPr>
              <a:t>PADA TANAMAN JERUK</a:t>
            </a:r>
            <a:endParaRPr lang="en-US" sz="2800" b="1" dirty="0">
              <a:latin typeface="Century Gothic" panose="020B0502020202020204" pitchFamily="34" charset="0"/>
            </a:endParaRPr>
          </a:p>
        </p:txBody>
      </p:sp>
      <p:grpSp>
        <p:nvGrpSpPr>
          <p:cNvPr id="3" name="object 12"/>
          <p:cNvGrpSpPr/>
          <p:nvPr/>
        </p:nvGrpSpPr>
        <p:grpSpPr>
          <a:xfrm>
            <a:off x="1182400" y="1717478"/>
            <a:ext cx="4400657" cy="3197857"/>
            <a:chOff x="611123" y="1877567"/>
            <a:chExt cx="4884420" cy="3549396"/>
          </a:xfrm>
        </p:grpSpPr>
        <p:pic>
          <p:nvPicPr>
            <p:cNvPr id="12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1123" y="1877567"/>
              <a:ext cx="4884420" cy="3549396"/>
            </a:xfrm>
            <a:prstGeom prst="rect">
              <a:avLst/>
            </a:prstGeom>
          </p:spPr>
        </p:pic>
        <p:pic>
          <p:nvPicPr>
            <p:cNvPr id="13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147" y="2069591"/>
              <a:ext cx="4514088" cy="3179063"/>
            </a:xfrm>
            <a:prstGeom prst="rect">
              <a:avLst/>
            </a:prstGeom>
          </p:spPr>
        </p:pic>
      </p:grpSp>
      <p:grpSp>
        <p:nvGrpSpPr>
          <p:cNvPr id="6" name="object 17"/>
          <p:cNvGrpSpPr/>
          <p:nvPr/>
        </p:nvGrpSpPr>
        <p:grpSpPr>
          <a:xfrm>
            <a:off x="6125263" y="1717480"/>
            <a:ext cx="2755730" cy="3197856"/>
            <a:chOff x="5734811" y="1877567"/>
            <a:chExt cx="3058667" cy="3549396"/>
          </a:xfrm>
        </p:grpSpPr>
        <p:pic>
          <p:nvPicPr>
            <p:cNvPr id="10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4811" y="1877567"/>
              <a:ext cx="3058667" cy="3549396"/>
            </a:xfrm>
            <a:prstGeom prst="rect">
              <a:avLst/>
            </a:prstGeom>
          </p:spPr>
        </p:pic>
        <p:pic>
          <p:nvPicPr>
            <p:cNvPr id="11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6835" y="2069591"/>
              <a:ext cx="2688336" cy="3179063"/>
            </a:xfrm>
            <a:prstGeom prst="rect">
              <a:avLst/>
            </a:prstGeom>
          </p:spPr>
        </p:pic>
      </p:grpSp>
      <p:grpSp>
        <p:nvGrpSpPr>
          <p:cNvPr id="7" name="object 22"/>
          <p:cNvGrpSpPr/>
          <p:nvPr/>
        </p:nvGrpSpPr>
        <p:grpSpPr>
          <a:xfrm>
            <a:off x="8720346" y="1717235"/>
            <a:ext cx="2754358" cy="3197856"/>
            <a:chOff x="8606028" y="1877567"/>
            <a:chExt cx="3057144" cy="3549396"/>
          </a:xfrm>
        </p:grpSpPr>
        <p:pic>
          <p:nvPicPr>
            <p:cNvPr id="8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6028" y="1877567"/>
              <a:ext cx="3057144" cy="3549396"/>
            </a:xfrm>
            <a:prstGeom prst="rect">
              <a:avLst/>
            </a:prstGeom>
          </p:spPr>
        </p:pic>
        <p:pic>
          <p:nvPicPr>
            <p:cNvPr id="9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98052" y="2069591"/>
              <a:ext cx="2686811" cy="317906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1355406" y="5059557"/>
            <a:ext cx="4609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nl-NL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Sebelum percobaan, daun kutu daun jeruk padat.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71233" y="5088097"/>
            <a:ext cx="4844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Setelah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5 jam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pengaplikasian</a:t>
            </a:r>
            <a:r>
              <a:rPr lang="en-ID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ID" sz="1800" b="1" dirty="0">
                <a:solidFill>
                  <a:srgbClr val="548235"/>
                </a:solidFill>
                <a:effectLst/>
                <a:latin typeface="Century Gothic" panose="020B0502020202020204" pitchFamily="34" charset="0"/>
              </a:rPr>
              <a:t>PILARBIT , 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kutu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daun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mati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di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daun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16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46369" y="5367130"/>
            <a:ext cx="1064973" cy="9600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71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UJICOBA LAPANGAN</a:t>
            </a:r>
            <a:br>
              <a:rPr lang="en-US" sz="2800" b="1" dirty="0">
                <a:latin typeface="Century Gothic" panose="020B0502020202020204" pitchFamily="34" charset="0"/>
              </a:rPr>
            </a:br>
            <a:r>
              <a:rPr lang="en-US" sz="2800" b="1" dirty="0">
                <a:latin typeface="Century Gothic" panose="020B0502020202020204" pitchFamily="34" charset="0"/>
              </a:rPr>
              <a:t>PILARBIT 27 / 102 SC – KUTU DAUN</a:t>
            </a:r>
            <a:br>
              <a:rPr lang="en-US" sz="2800" b="1" dirty="0">
                <a:latin typeface="Century Gothic" panose="020B0502020202020204" pitchFamily="34" charset="0"/>
              </a:rPr>
            </a:br>
            <a:r>
              <a:rPr lang="en-US" sz="2800" b="1" dirty="0">
                <a:latin typeface="Century Gothic" panose="020B0502020202020204" pitchFamily="34" charset="0"/>
              </a:rPr>
              <a:t>PADA TANAMAN MANGGA</a:t>
            </a:r>
            <a:endParaRPr lang="en-US" sz="2800" b="1" dirty="0">
              <a:latin typeface="Century Gothic" panose="020B0502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5660" y="4847125"/>
            <a:ext cx="3597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nl-NL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Pengaplikasian </a:t>
            </a:r>
            <a:r>
              <a:rPr lang="nl-NL" sz="1400" b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PILARBIT 27 / 102 SC</a:t>
            </a:r>
            <a:endParaRPr lang="en-US" sz="1400" b="1" dirty="0">
              <a:latin typeface="Century Gothic" panose="020B0502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5007" y="4847125"/>
            <a:ext cx="4844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Setelah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5 jam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pengaplikasian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dirty="0">
                <a:latin typeface="Century Gothic" panose="020B0502020202020204" pitchFamily="34" charset="0"/>
              </a:rPr>
              <a:t> </a:t>
            </a:r>
            <a:r>
              <a:rPr lang="en-ID" sz="1800" b="1" dirty="0">
                <a:solidFill>
                  <a:srgbClr val="548235"/>
                </a:solidFill>
                <a:effectLst/>
                <a:latin typeface="Century Gothic" panose="020B0502020202020204" pitchFamily="34" charset="0"/>
              </a:rPr>
              <a:t>PILARBIT 27 / 102 SC 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kutu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daun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mati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21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836594" y="5377816"/>
            <a:ext cx="1181265" cy="954099"/>
          </a:xfrm>
          <a:prstGeom prst="rect">
            <a:avLst/>
          </a:prstGeom>
        </p:spPr>
      </p:pic>
      <p:pic>
        <p:nvPicPr>
          <p:cNvPr id="23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791" y="1798442"/>
            <a:ext cx="3459069" cy="2823003"/>
          </a:xfrm>
          <a:prstGeom prst="rect">
            <a:avLst/>
          </a:prstGeom>
        </p:spPr>
      </p:pic>
      <p:pic>
        <p:nvPicPr>
          <p:cNvPr id="18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2851" y="1798443"/>
            <a:ext cx="2654358" cy="2823002"/>
          </a:xfrm>
          <a:prstGeom prst="rect">
            <a:avLst/>
          </a:prstGeom>
        </p:spPr>
      </p:pic>
      <p:pic>
        <p:nvPicPr>
          <p:cNvPr id="20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07886" y="1798443"/>
            <a:ext cx="2953382" cy="28230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71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UJICOBA LAPANGAN</a:t>
            </a:r>
            <a:br>
              <a:rPr lang="en-US" sz="2800" b="1" dirty="0">
                <a:latin typeface="Century Gothic" panose="020B0502020202020204" pitchFamily="34" charset="0"/>
              </a:rPr>
            </a:br>
            <a:r>
              <a:rPr lang="en-US" sz="2800" b="1" dirty="0">
                <a:latin typeface="Century Gothic" panose="020B0502020202020204" pitchFamily="34" charset="0"/>
              </a:rPr>
              <a:t>PILARBIT 27 / 102 SC – KUTU DAUN</a:t>
            </a:r>
            <a:br>
              <a:rPr lang="en-US" sz="2800" b="1" dirty="0">
                <a:latin typeface="Century Gothic" panose="020B0502020202020204" pitchFamily="34" charset="0"/>
              </a:rPr>
            </a:br>
            <a:r>
              <a:rPr lang="en-US" sz="2800" b="1" dirty="0">
                <a:latin typeface="Century Gothic" panose="020B0502020202020204" pitchFamily="34" charset="0"/>
              </a:rPr>
              <a:t>PADA TANAMAN SEMANGKA</a:t>
            </a:r>
            <a:endParaRPr lang="en-US" sz="2800" b="1" dirty="0">
              <a:latin typeface="Century Gothic" panose="020B0502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07422" y="4130202"/>
            <a:ext cx="22514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nl-NL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Pengaplikasian </a:t>
            </a:r>
            <a:r>
              <a:rPr lang="nl-NL" sz="1400" b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PILARBIT 27 / 102 SC </a:t>
            </a:r>
            <a:r>
              <a:rPr lang="nl-NL" sz="14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dapat mengendalikan kutu daun secara efektif.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grpSp>
        <p:nvGrpSpPr>
          <p:cNvPr id="3" name="object 2"/>
          <p:cNvGrpSpPr/>
          <p:nvPr/>
        </p:nvGrpSpPr>
        <p:grpSpPr>
          <a:xfrm>
            <a:off x="432886" y="1768232"/>
            <a:ext cx="7619400" cy="4254132"/>
            <a:chOff x="216408" y="1924822"/>
            <a:chExt cx="8609076" cy="4806696"/>
          </a:xfrm>
        </p:grpSpPr>
        <p:pic>
          <p:nvPicPr>
            <p:cNvPr id="8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675632" y="1924822"/>
              <a:ext cx="4149852" cy="4806696"/>
            </a:xfrm>
            <a:prstGeom prst="rect">
              <a:avLst/>
            </a:prstGeom>
          </p:spPr>
        </p:pic>
        <p:pic>
          <p:nvPicPr>
            <p:cNvPr id="9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0703" y="2119883"/>
              <a:ext cx="3579876" cy="4236720"/>
            </a:xfrm>
            <a:prstGeom prst="rect">
              <a:avLst/>
            </a:prstGeom>
          </p:spPr>
        </p:pic>
        <p:pic>
          <p:nvPicPr>
            <p:cNvPr id="10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408" y="1924822"/>
              <a:ext cx="4651248" cy="4806696"/>
            </a:xfrm>
            <a:prstGeom prst="rect">
              <a:avLst/>
            </a:prstGeom>
          </p:spPr>
        </p:pic>
        <p:pic>
          <p:nvPicPr>
            <p:cNvPr id="11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480" y="2119883"/>
              <a:ext cx="4081272" cy="4236720"/>
            </a:xfrm>
            <a:prstGeom prst="rect">
              <a:avLst/>
            </a:prstGeom>
          </p:spPr>
        </p:pic>
      </p:grpSp>
      <p:pic>
        <p:nvPicPr>
          <p:cNvPr id="5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78373" y="5299753"/>
            <a:ext cx="1306790" cy="1047656"/>
          </a:xfrm>
          <a:prstGeom prst="rect">
            <a:avLst/>
          </a:prstGeom>
        </p:spPr>
      </p:pic>
      <p:pic>
        <p:nvPicPr>
          <p:cNvPr id="6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14143" y="1940869"/>
            <a:ext cx="2537460" cy="1836420"/>
          </a:xfrm>
          <a:prstGeom prst="rect">
            <a:avLst/>
          </a:prstGeom>
        </p:spPr>
      </p:pic>
      <p:pic>
        <p:nvPicPr>
          <p:cNvPr id="7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41722" y="1278717"/>
            <a:ext cx="1773935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71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RINGKASAN</a:t>
            </a:r>
            <a:endParaRPr lang="en-US" sz="2800" b="1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838200" y="909980"/>
            <a:ext cx="3386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Century Gothic" panose="020B0502020202020204" pitchFamily="34" charset="0"/>
              </a:rPr>
              <a:t>MANFAAT PRODUK</a:t>
            </a:r>
            <a:endParaRPr lang="en-US" sz="2800" b="1" dirty="0">
              <a:latin typeface="Century Gothic" panose="020B0502020202020204" pitchFamily="34" charset="0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3321621" y="3056078"/>
            <a:ext cx="7794054" cy="145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8450" marR="5080" indent="-285750">
              <a:lnSpc>
                <a:spcPct val="133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Penerapan</a:t>
            </a:r>
            <a:r>
              <a:rPr lang="en-ID" sz="1800" dirty="0">
                <a:effectLst/>
                <a:latin typeface="Century Gothic" panose="020B0502020202020204" pitchFamily="34" charset="0"/>
              </a:rPr>
              <a:t> </a:t>
            </a:r>
            <a:r>
              <a:rPr lang="en-ID" sz="1800" b="1" dirty="0">
                <a:effectLst/>
                <a:latin typeface="Century Gothic" panose="020B0502020202020204" pitchFamily="34" charset="0"/>
              </a:rPr>
              <a:t>PILARBIT 27 / 102 SC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dapat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melindungi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tanaman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dari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hama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untuk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jangka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waktu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yang lama.</a:t>
            </a:r>
            <a:endParaRPr lang="en-ID" sz="180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marL="298450" marR="5080" indent="-285750">
              <a:lnSpc>
                <a:spcPct val="133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waktu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yang lama, yang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dapat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mengurangi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waktu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aplikasi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bagi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petani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dirty="0">
              <a:latin typeface="Century Gothic" panose="020B0502020202020204" pitchFamily="34" charset="0"/>
              <a:cs typeface="Arial MT"/>
            </a:endParaRPr>
          </a:p>
        </p:txBody>
      </p:sp>
      <p:sp>
        <p:nvSpPr>
          <p:cNvPr id="13" name="object 4"/>
          <p:cNvSpPr txBox="1"/>
          <p:nvPr/>
        </p:nvSpPr>
        <p:spPr>
          <a:xfrm>
            <a:off x="3311110" y="4743902"/>
            <a:ext cx="760453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Penggunaan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b="1" dirty="0">
                <a:effectLst/>
                <a:latin typeface="Century Gothic" panose="020B0502020202020204" pitchFamily="34" charset="0"/>
              </a:rPr>
              <a:t>PILARBIT 27 / 102 SC</a:t>
            </a:r>
            <a:r>
              <a:rPr lang="en-ID" sz="1800" b="1" dirty="0">
                <a:solidFill>
                  <a:srgbClr val="4AC82C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dapat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membuat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tanaman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tumbuh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sehat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Dengan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demikian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hasil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panen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dan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kualitas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tanaman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akan</a:t>
            </a:r>
            <a:r>
              <a:rPr lang="en-ID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meningkat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yang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menjamin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petani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memperoleh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lebih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banyak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keuntungan</a:t>
            </a:r>
            <a:endParaRPr dirty="0">
              <a:latin typeface="Century Gothic" panose="020B0502020202020204" pitchFamily="34" charset="0"/>
              <a:cs typeface="Arial MT"/>
            </a:endParaRPr>
          </a:p>
        </p:txBody>
      </p:sp>
      <p:sp>
        <p:nvSpPr>
          <p:cNvPr id="15" name="object 6"/>
          <p:cNvSpPr txBox="1"/>
          <p:nvPr/>
        </p:nvSpPr>
        <p:spPr>
          <a:xfrm>
            <a:off x="3321621" y="1961268"/>
            <a:ext cx="797046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Kombinasi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Deltamethrin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dengan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Thiamethoxam, </a:t>
            </a:r>
            <a:r>
              <a:rPr lang="en-ID" sz="1800" b="1" dirty="0">
                <a:effectLst/>
                <a:latin typeface="Century Gothic" panose="020B0502020202020204" pitchFamily="34" charset="0"/>
              </a:rPr>
              <a:t>PILARBIT 27 / 102 SC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memiliki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spektrum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insektisida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yang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lebih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luas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dengan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efikasi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knock-down.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Penggunaannya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dapat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mengendalikan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hama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secara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efisien</a:t>
            </a:r>
            <a:endParaRPr dirty="0">
              <a:latin typeface="Century Gothic" panose="020B0502020202020204" pitchFamily="34" charset="0"/>
              <a:cs typeface="Arial MT"/>
            </a:endParaRPr>
          </a:p>
        </p:txBody>
      </p:sp>
      <p:sp>
        <p:nvSpPr>
          <p:cNvPr id="16" name="object 7"/>
          <p:cNvSpPr txBox="1"/>
          <p:nvPr/>
        </p:nvSpPr>
        <p:spPr>
          <a:xfrm>
            <a:off x="910429" y="3098118"/>
            <a:ext cx="1506950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b="1" spc="10" dirty="0" err="1">
                <a:latin typeface="Century Gothic" panose="020B0502020202020204" pitchFamily="34" charset="0"/>
                <a:cs typeface="Arial" panose="020B0604020202020204"/>
              </a:rPr>
              <a:t>Hemat</a:t>
            </a:r>
            <a:r>
              <a:rPr lang="en-US" b="1" spc="10" dirty="0">
                <a:latin typeface="Century Gothic" panose="020B0502020202020204" pitchFamily="34" charset="0"/>
                <a:cs typeface="Arial" panose="020B0604020202020204"/>
              </a:rPr>
              <a:t> </a:t>
            </a:r>
            <a:r>
              <a:rPr lang="en-US" b="1" spc="10" dirty="0" err="1">
                <a:latin typeface="Century Gothic" panose="020B0502020202020204" pitchFamily="34" charset="0"/>
                <a:cs typeface="Arial" panose="020B0604020202020204"/>
              </a:rPr>
              <a:t>Keuangan</a:t>
            </a:r>
            <a:endParaRPr dirty="0">
              <a:latin typeface="Century Gothic" panose="020B0502020202020204" pitchFamily="34" charset="0"/>
              <a:cs typeface="Arial" panose="020B0604020202020204"/>
            </a:endParaRPr>
          </a:p>
        </p:txBody>
      </p:sp>
      <p:sp>
        <p:nvSpPr>
          <p:cNvPr id="17" name="object 8"/>
          <p:cNvSpPr txBox="1"/>
          <p:nvPr/>
        </p:nvSpPr>
        <p:spPr>
          <a:xfrm>
            <a:off x="910429" y="2010644"/>
            <a:ext cx="2032468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b="1" spc="15" dirty="0" err="1">
                <a:latin typeface="Century Gothic" panose="020B0502020202020204" pitchFamily="34" charset="0"/>
                <a:cs typeface="Arial" panose="020B0604020202020204"/>
              </a:rPr>
              <a:t>Hemat</a:t>
            </a:r>
            <a:r>
              <a:rPr lang="en-US" b="1" spc="15" dirty="0">
                <a:latin typeface="Century Gothic" panose="020B0502020202020204" pitchFamily="34" charset="0"/>
                <a:cs typeface="Arial" panose="020B0604020202020204"/>
              </a:rPr>
              <a:t> Tenaga </a:t>
            </a:r>
            <a:r>
              <a:rPr lang="en-US" b="1" spc="15" dirty="0" err="1">
                <a:latin typeface="Century Gothic" panose="020B0502020202020204" pitchFamily="34" charset="0"/>
                <a:cs typeface="Arial" panose="020B0604020202020204"/>
              </a:rPr>
              <a:t>Kerja</a:t>
            </a:r>
            <a:endParaRPr dirty="0">
              <a:latin typeface="Century Gothic" panose="020B0502020202020204" pitchFamily="34" charset="0"/>
              <a:cs typeface="Arial" panose="020B0604020202020204"/>
            </a:endParaRPr>
          </a:p>
        </p:txBody>
      </p:sp>
      <p:sp>
        <p:nvSpPr>
          <p:cNvPr id="18" name="object 9"/>
          <p:cNvSpPr txBox="1"/>
          <p:nvPr/>
        </p:nvSpPr>
        <p:spPr>
          <a:xfrm>
            <a:off x="910428" y="4754414"/>
            <a:ext cx="1843281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b="1" spc="15" dirty="0" err="1">
                <a:latin typeface="Century Gothic" panose="020B0502020202020204" pitchFamily="34" charset="0"/>
                <a:cs typeface="Arial" panose="020B0604020202020204"/>
              </a:rPr>
              <a:t>Lebih</a:t>
            </a:r>
            <a:r>
              <a:rPr lang="en-US" b="1" spc="15" dirty="0">
                <a:latin typeface="Century Gothic" panose="020B0502020202020204" pitchFamily="34" charset="0"/>
                <a:cs typeface="Arial" panose="020B0604020202020204"/>
              </a:rPr>
              <a:t> Banyak </a:t>
            </a:r>
            <a:r>
              <a:rPr lang="en-US" b="1" spc="15" dirty="0" err="1">
                <a:latin typeface="Century Gothic" panose="020B0502020202020204" pitchFamily="34" charset="0"/>
                <a:cs typeface="Arial" panose="020B0604020202020204"/>
              </a:rPr>
              <a:t>Keuntungan</a:t>
            </a:r>
            <a:endParaRPr dirty="0">
              <a:latin typeface="Century Gothic" panose="020B0502020202020204" pitchFamily="34" charset="0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71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RINGKASAN</a:t>
            </a:r>
            <a:endParaRPr lang="en-US" sz="2800" b="1" dirty="0">
              <a:latin typeface="Century Gothic" panose="020B0502020202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838200" y="909980"/>
            <a:ext cx="3386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Century Gothic" panose="020B0502020202020204" pitchFamily="34" charset="0"/>
              </a:rPr>
              <a:t>PERHATIAN</a:t>
            </a:r>
            <a:endParaRPr lang="en-US" sz="2800" b="1" dirty="0">
              <a:latin typeface="Century Gothic" panose="020B0502020202020204" pitchFamily="34" charset="0"/>
            </a:endParaRPr>
          </a:p>
        </p:txBody>
      </p:sp>
      <p:sp>
        <p:nvSpPr>
          <p:cNvPr id="15" name="object 6"/>
          <p:cNvSpPr txBox="1"/>
          <p:nvPr/>
        </p:nvSpPr>
        <p:spPr>
          <a:xfrm>
            <a:off x="1636997" y="1913643"/>
            <a:ext cx="8918005" cy="36994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Aplikasi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b="1" dirty="0">
                <a:effectLst/>
                <a:latin typeface="Century Gothic" panose="020B0502020202020204" pitchFamily="34" charset="0"/>
              </a:rPr>
              <a:t>PILARBIT 27 / 102 SC</a:t>
            </a:r>
            <a:r>
              <a:rPr lang="en-ID" sz="1800" b="1" dirty="0">
                <a:solidFill>
                  <a:srgbClr val="70AD47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memiliki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efikasi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yang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baik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terhadap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penggerek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Periode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aplikasi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yang optimal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adalah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pada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tahap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awal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penetasan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telur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endParaRPr lang="en-ID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Harap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gunakan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dosis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b="1" dirty="0">
                <a:effectLst/>
                <a:latin typeface="Century Gothic" panose="020B0502020202020204" pitchFamily="34" charset="0"/>
              </a:rPr>
              <a:t>PILARBIT 27 / 102 SC</a:t>
            </a:r>
            <a:r>
              <a:rPr lang="en-ID" sz="1800" b="1" dirty="0">
                <a:solidFill>
                  <a:srgbClr val="70AD47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yang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tinggi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jika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ada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hama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pecah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atau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resistensinya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parah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endParaRPr lang="en-ID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Disarankan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untuk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menggunakan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b="1" dirty="0">
                <a:effectLst/>
                <a:latin typeface="Century Gothic" panose="020B0502020202020204" pitchFamily="34" charset="0"/>
              </a:rPr>
              <a:t>PILARBIT 27 / 102 SC</a:t>
            </a:r>
            <a:r>
              <a:rPr lang="en-ID" sz="1800" b="1" dirty="0">
                <a:solidFill>
                  <a:srgbClr val="70AD47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kurang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dari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3 kali per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musim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endParaRPr lang="en-ID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Jangan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mencampur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b="1" dirty="0">
                <a:effectLst/>
                <a:latin typeface="Century Gothic" panose="020B0502020202020204" pitchFamily="34" charset="0"/>
              </a:rPr>
              <a:t>PILARBIT 27 / 102 SC</a:t>
            </a:r>
            <a:r>
              <a:rPr lang="en-ID" sz="1800" b="1" dirty="0">
                <a:solidFill>
                  <a:srgbClr val="70AD47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dengan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pestisida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yang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bersifat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basa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atau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asam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kuat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endParaRPr lang="en-ID" dirty="0"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Hindari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penggunaan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b="1" dirty="0">
                <a:effectLst/>
                <a:latin typeface="Century Gothic" panose="020B0502020202020204" pitchFamily="34" charset="0"/>
              </a:rPr>
              <a:t>PILARBIT 27 / 102 SC</a:t>
            </a:r>
            <a:r>
              <a:rPr lang="en-ID" sz="1800" b="1" dirty="0">
                <a:solidFill>
                  <a:srgbClr val="70AD47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pada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kacang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sz="180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kapri</a:t>
            </a:r>
            <a:r>
              <a:rPr lang="en-ID" sz="180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dirty="0">
              <a:latin typeface="Century Gothic" panose="020B0502020202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2610437" y="3967410"/>
            <a:ext cx="7011868" cy="2137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HOTLINE PENGADUAN :</a:t>
            </a:r>
            <a:endParaRPr lang="en-US" sz="2000" b="1" dirty="0">
              <a:latin typeface="Century Gothic" panose="020B0502020202020204" pitchFamily="34" charset="0"/>
            </a:endParaRPr>
          </a:p>
          <a:p>
            <a:pPr algn="ctr"/>
            <a:endParaRPr lang="en-US" sz="2000" b="1" dirty="0">
              <a:latin typeface="Century Gothic" panose="020B0502020202020204" pitchFamily="34" charset="0"/>
            </a:endParaRPr>
          </a:p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    : 0291 291354       : 0811270313 (</a:t>
            </a:r>
            <a:r>
              <a:rPr lang="en-US" sz="2000" b="1" dirty="0" err="1">
                <a:latin typeface="Century Gothic" panose="020B0502020202020204" pitchFamily="34" charset="0"/>
              </a:rPr>
              <a:t>Whatapp</a:t>
            </a:r>
            <a:r>
              <a:rPr lang="en-US" sz="2000" b="1" dirty="0">
                <a:latin typeface="Century Gothic" panose="020B0502020202020204" pitchFamily="34" charset="0"/>
              </a:rPr>
              <a:t> Only) </a:t>
            </a:r>
            <a:endParaRPr lang="en-US" sz="2000" b="1" dirty="0">
              <a:latin typeface="Century Gothic" panose="020B0502020202020204" pitchFamily="34" charset="0"/>
            </a:endParaRPr>
          </a:p>
          <a:p>
            <a:pPr algn="ctr"/>
            <a:endParaRPr lang="en-US" sz="2000" b="1" dirty="0">
              <a:latin typeface="Century Gothic" panose="020B0502020202020204" pitchFamily="34" charset="0"/>
            </a:endParaRPr>
          </a:p>
          <a:p>
            <a:pPr algn="ctr"/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838200" y="51971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dirty="0">
                <a:latin typeface="Century Gothic" panose="020B0502020202020204" pitchFamily="34" charset="0"/>
              </a:rPr>
              <a:t>Office : Jl. Kudus – </a:t>
            </a:r>
            <a:r>
              <a:rPr lang="en-US" sz="1600" b="1" dirty="0" err="1">
                <a:latin typeface="Century Gothic" panose="020B0502020202020204" pitchFamily="34" charset="0"/>
              </a:rPr>
              <a:t>Purwodadi</a:t>
            </a:r>
            <a:r>
              <a:rPr lang="en-US" sz="1600" b="1" dirty="0">
                <a:latin typeface="Century Gothic" panose="020B0502020202020204" pitchFamily="34" charset="0"/>
              </a:rPr>
              <a:t> Km. 13 </a:t>
            </a:r>
            <a:r>
              <a:rPr lang="en-US" sz="1600" b="1" dirty="0" err="1">
                <a:latin typeface="Century Gothic" panose="020B0502020202020204" pitchFamily="34" charset="0"/>
              </a:rPr>
              <a:t>Desa</a:t>
            </a:r>
            <a:r>
              <a:rPr lang="en-US" sz="1600" b="1" dirty="0">
                <a:latin typeface="Century Gothic" panose="020B0502020202020204" pitchFamily="34" charset="0"/>
              </a:rPr>
              <a:t> </a:t>
            </a:r>
            <a:r>
              <a:rPr lang="en-US" sz="1600" b="1" dirty="0" err="1">
                <a:latin typeface="Century Gothic" panose="020B0502020202020204" pitchFamily="34" charset="0"/>
              </a:rPr>
              <a:t>Kalirejo</a:t>
            </a:r>
            <a:r>
              <a:rPr lang="en-US" sz="1600" b="1" dirty="0">
                <a:latin typeface="Century Gothic" panose="020B0502020202020204" pitchFamily="34" charset="0"/>
              </a:rPr>
              <a:t> Rt. 02 </a:t>
            </a:r>
            <a:r>
              <a:rPr lang="en-US" sz="1600" b="1" dirty="0" err="1">
                <a:latin typeface="Century Gothic" panose="020B0502020202020204" pitchFamily="34" charset="0"/>
              </a:rPr>
              <a:t>Rw</a:t>
            </a:r>
            <a:r>
              <a:rPr lang="en-US" sz="1600" b="1" dirty="0">
                <a:latin typeface="Century Gothic" panose="020B0502020202020204" pitchFamily="34" charset="0"/>
              </a:rPr>
              <a:t>. 05 </a:t>
            </a:r>
            <a:r>
              <a:rPr lang="en-US" sz="1600" b="1" dirty="0" err="1">
                <a:latin typeface="Century Gothic" panose="020B0502020202020204" pitchFamily="34" charset="0"/>
              </a:rPr>
              <a:t>Kec</a:t>
            </a:r>
            <a:r>
              <a:rPr lang="en-US" sz="1600" b="1" dirty="0">
                <a:latin typeface="Century Gothic" panose="020B0502020202020204" pitchFamily="34" charset="0"/>
              </a:rPr>
              <a:t>. </a:t>
            </a:r>
            <a:r>
              <a:rPr lang="en-US" sz="1600" b="1" dirty="0" err="1">
                <a:latin typeface="Century Gothic" panose="020B0502020202020204" pitchFamily="34" charset="0"/>
              </a:rPr>
              <a:t>Undaan</a:t>
            </a:r>
            <a:r>
              <a:rPr lang="en-US" sz="1600" b="1" dirty="0">
                <a:latin typeface="Century Gothic" panose="020B0502020202020204" pitchFamily="34" charset="0"/>
              </a:rPr>
              <a:t> </a:t>
            </a:r>
            <a:r>
              <a:rPr lang="en-US" sz="1600" b="1" dirty="0" err="1">
                <a:latin typeface="Century Gothic" panose="020B0502020202020204" pitchFamily="34" charset="0"/>
              </a:rPr>
              <a:t>Kab</a:t>
            </a:r>
            <a:r>
              <a:rPr lang="en-US" sz="1600" b="1" dirty="0">
                <a:latin typeface="Century Gothic" panose="020B0502020202020204" pitchFamily="34" charset="0"/>
              </a:rPr>
              <a:t>. Kudus - </a:t>
            </a:r>
            <a:r>
              <a:rPr lang="en-US" sz="1600" b="1" dirty="0" err="1">
                <a:latin typeface="Century Gothic" panose="020B0502020202020204" pitchFamily="34" charset="0"/>
              </a:rPr>
              <a:t>Jateng</a:t>
            </a:r>
            <a:r>
              <a:rPr lang="en-US" sz="1600" b="1" dirty="0">
                <a:latin typeface="Century Gothic" panose="020B0502020202020204" pitchFamily="34" charset="0"/>
              </a:rPr>
              <a:t> </a:t>
            </a:r>
            <a:endParaRPr lang="en-US" sz="1600" b="1" dirty="0">
              <a:latin typeface="Century Gothic" panose="020B0502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371" y="4832412"/>
            <a:ext cx="407963" cy="4079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953" y="4729248"/>
            <a:ext cx="614289" cy="614289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84976" y="2541827"/>
            <a:ext cx="5222047" cy="874762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latin typeface="Century Gothic" panose="020B0502020202020204" pitchFamily="34" charset="0"/>
              </a:rPr>
              <a:t>TERIMA KASIH</a:t>
            </a:r>
            <a:endParaRPr lang="en-US" sz="60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3755</Words>
  <Application>WPS Presentation</Application>
  <PresentationFormat>Widescreen</PresentationFormat>
  <Paragraphs>125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Century Gothic</vt:lpstr>
      <vt:lpstr>Arial MT</vt:lpstr>
      <vt:lpstr>Arial</vt:lpstr>
      <vt:lpstr>Microsoft YaHei</vt:lpstr>
      <vt:lpstr>Arial Unicode MS</vt:lpstr>
      <vt:lpstr>Calibri Light</vt:lpstr>
      <vt:lpstr>Calibri</vt:lpstr>
      <vt:lpstr>Office Theme</vt:lpstr>
      <vt:lpstr>PRODUK KNOWLEDGE PILARBIT 27 / 102 SC INSEKTISIDA</vt:lpstr>
      <vt:lpstr>PowerPoint 演示文稿</vt:lpstr>
      <vt:lpstr>APA ITU PILARBIT 27 / 102 SC</vt:lpstr>
      <vt:lpstr>PILARBIT 27 / 102 SC</vt:lpstr>
      <vt:lpstr>APA MANFAAT PENGGUNAAN PILARBIT 27 / 102 SC</vt:lpstr>
      <vt:lpstr>MANFAAT PENGGUNAAN PILARBOMBA 27 / 102 SC PADA TANAMAN</vt:lpstr>
      <vt:lpstr>APA SAJA HAMA SASARANNYA &amp; BERAPA DOSIS PENGGUNAANYA</vt:lpstr>
      <vt:lpstr>Dosis &amp; Hama Sasaran</vt:lpstr>
      <vt:lpstr>UJICOBA LAPANGAN PILARBIT 27 / 102 SC – KUTU DAUN PADA TANAMAN JERUK</vt:lpstr>
      <vt:lpstr>UJICOBA LAPANGAN PILARBIT 27 / 102 SC – KUTU DAUN PADA TANAMAN MANGGA</vt:lpstr>
      <vt:lpstr>UJICOBA LAPANGAN PILARBIT 27 / 102 SC – KUTU DAUN PADA TANAMAN MANGGA</vt:lpstr>
      <vt:lpstr>RINGKASAN</vt:lpstr>
      <vt:lpstr>RINGKASAN</vt:lpstr>
      <vt:lpstr>TERIMA KASIH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PRODUK KNOWLADGE PILARBOMBA 53 / 106 SC</dc:title>
  <dc:creator>HUSNI MSE</dc:creator>
  <cp:lastModifiedBy>Liana Indah Sari</cp:lastModifiedBy>
  <cp:revision>125</cp:revision>
  <dcterms:created xsi:type="dcterms:W3CDTF">2024-12-28T16:10:00Z</dcterms:created>
  <dcterms:modified xsi:type="dcterms:W3CDTF">2025-03-08T02:28:01Z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4A6480C46C214837A61CF5362F57EDE1_12</vt:lpwstr>
  </property>
  <property fmtid="{D5CDD505-2E9C-101B-9397-08002B2CF9AE}" pid="3" name="KSOProductBuildVer">
    <vt:lpwstr>1033-12.2.0.20326</vt:lpwstr>
  </property>
</Properties>
</file>